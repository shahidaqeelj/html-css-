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69" d="100"/>
          <a:sy n="69" d="100"/>
        </p:scale>
        <p:origin x="540" y="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2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412480" y="685800"/>
            <a:ext cx="2377440" cy="2377440"/>
          </a:xfrm>
          <a:prstGeom prst="ellipse">
            <a:avLst/>
          </a:prstGeom>
          <a:solidFill>
            <a:srgbClr val="2F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601200" y="2240280"/>
            <a:ext cx="1554480" cy="1554480"/>
          </a:xfrm>
          <a:prstGeom prst="ellipse">
            <a:avLst/>
          </a:prstGeom>
          <a:solidFill>
            <a:srgbClr val="1DA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7589520" y="3200400"/>
            <a:ext cx="1005840" cy="1005840"/>
          </a:xfrm>
          <a:prstGeom prst="ellipse">
            <a:avLst/>
          </a:prstGeom>
          <a:solidFill>
            <a:srgbClr val="F1B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685800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Aptos"/>
              </a:defRPr>
            </a:pPr>
            <a:r>
              <a:t>AI CHATBOT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31720"/>
            <a:ext cx="676656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400" b="0">
                <a:solidFill>
                  <a:srgbClr val="BED3F2"/>
                </a:solidFill>
                <a:latin typeface="Aptos"/>
              </a:defRPr>
            </a:pPr>
            <a:r>
              <a:t>System Architecture &amp; Concepts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3063240"/>
            <a:ext cx="667512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600" b="0">
                <a:solidFill>
                  <a:srgbClr val="FFFFFF"/>
                </a:solidFill>
                <a:latin typeface="Aptos"/>
              </a:defRPr>
            </a:pPr>
            <a:r>
              <a:t>Python backend  •  Mobile application  •  Hybrid RAG  •  Chit fund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5897880"/>
            <a:ext cx="8046720" cy="46166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200" b="0">
                <a:solidFill>
                  <a:srgbClr val="BED3F2"/>
                </a:solidFill>
                <a:latin typeface="Aptos"/>
              </a:defRPr>
            </a:pPr>
            <a:r>
              <a:rPr lang="en-US" dirty="0"/>
              <a:t>Presented By </a:t>
            </a:r>
          </a:p>
          <a:p>
            <a:pPr>
              <a:defRPr sz="1200" b="0">
                <a:solidFill>
                  <a:srgbClr val="BED3F2"/>
                </a:solidFill>
                <a:latin typeface="Aptos"/>
              </a:defRPr>
            </a:pPr>
            <a:r>
              <a:rPr lang="en-US" dirty="0"/>
              <a:t>J Shahid Aqeel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 b="1">
                <a:solidFill>
                  <a:srgbClr val="CED8E7"/>
                </a:solidFill>
                <a:latin typeface="Aptos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A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900" b="1">
                <a:solidFill>
                  <a:srgbClr val="142242"/>
                </a:solidFill>
                <a:latin typeface="Aptos"/>
              </a:defRPr>
            </a:pPr>
            <a:r>
              <a:t>High-Level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34290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1" y="1600200"/>
            <a:ext cx="3108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600" b="1">
                <a:solidFill>
                  <a:srgbClr val="2F69BE"/>
                </a:solidFill>
                <a:latin typeface="Aptos"/>
              </a:defRPr>
            </a:pPr>
            <a:r>
              <a:t>1  Mobile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1" y="2011680"/>
            <a:ext cx="3063240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300" b="0">
                <a:solidFill>
                  <a:srgbClr val="2A3342"/>
                </a:solidFill>
                <a:latin typeface="Aptos"/>
              </a:defRPr>
            </a:pPr>
            <a:r>
              <a:t>Chat screen, settings, knowledge admin, answer cards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1417320"/>
            <a:ext cx="34290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45152" y="1600200"/>
            <a:ext cx="3108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600" b="1">
                <a:solidFill>
                  <a:srgbClr val="2F69BE"/>
                </a:solidFill>
                <a:latin typeface="Aptos"/>
              </a:defRPr>
            </a:pPr>
            <a:r>
              <a:t>2  Flask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45152" y="2011680"/>
            <a:ext cx="3063240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300" b="0">
                <a:solidFill>
                  <a:srgbClr val="2A3342"/>
                </a:solidFill>
                <a:latin typeface="Aptos"/>
              </a:defRPr>
            </a:pPr>
            <a:r>
              <a:t>Receives requests and returns responses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1417320"/>
            <a:ext cx="34290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85632" y="1600200"/>
            <a:ext cx="3108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600" b="1">
                <a:solidFill>
                  <a:srgbClr val="2F69BE"/>
                </a:solidFill>
                <a:latin typeface="Aptos"/>
              </a:defRPr>
            </a:pPr>
            <a:r>
              <a:t>3  Agent + Router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85632" y="2011680"/>
            <a:ext cx="3063240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300" b="0">
                <a:solidFill>
                  <a:srgbClr val="2A3342"/>
                </a:solidFill>
                <a:latin typeface="Aptos"/>
              </a:defRPr>
            </a:pPr>
            <a:r>
              <a:t>Routes intent and coordinates tool calls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566160"/>
            <a:ext cx="34290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4671" y="3749040"/>
            <a:ext cx="3108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600" b="1">
                <a:solidFill>
                  <a:srgbClr val="1DA1A0"/>
                </a:solidFill>
                <a:latin typeface="Aptos"/>
              </a:defRPr>
            </a:pPr>
            <a:r>
              <a:t>4  Tools + Hybrid RAG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160520"/>
            <a:ext cx="3063240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300" b="0">
                <a:solidFill>
                  <a:srgbClr val="2A3342"/>
                </a:solidFill>
                <a:latin typeface="Aptos"/>
              </a:defRPr>
            </a:pPr>
            <a:r>
              <a:t>Fetches structured data or relevant policy chunks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60" y="3566160"/>
            <a:ext cx="34290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45152" y="3749040"/>
            <a:ext cx="3108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600" b="1">
                <a:solidFill>
                  <a:srgbClr val="1DA1A0"/>
                </a:solidFill>
                <a:latin typeface="Aptos"/>
              </a:defRPr>
            </a:pPr>
            <a:r>
              <a:t>5  LLM + Composer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5152" y="4160520"/>
            <a:ext cx="3063240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300" b="0">
                <a:solidFill>
                  <a:srgbClr val="2A3342"/>
                </a:solidFill>
                <a:latin typeface="Aptos"/>
              </a:defRPr>
            </a:pPr>
            <a:r>
              <a:t>Builds a grounded answer and UI-friendly output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3566160"/>
            <a:ext cx="34290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85632" y="3749040"/>
            <a:ext cx="3108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600" b="1">
                <a:solidFill>
                  <a:srgbClr val="1DA1A0"/>
                </a:solidFill>
                <a:latin typeface="Aptos"/>
              </a:defRPr>
            </a:pPr>
            <a:r>
              <a:t>6  Telemetry + Feedback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85632" y="4160520"/>
            <a:ext cx="3063240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300" b="0">
                <a:solidFill>
                  <a:srgbClr val="2A3342"/>
                </a:solidFill>
                <a:latin typeface="Aptos"/>
              </a:defRPr>
            </a:pPr>
            <a:r>
              <a:t>Logs performance and routes feedback to support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 b="1">
                <a:solidFill>
                  <a:srgbClr val="636F82"/>
                </a:solidFill>
                <a:latin typeface="Aptos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900" b="1">
                <a:solidFill>
                  <a:srgbClr val="142242"/>
                </a:solidFill>
                <a:latin typeface="Aptos"/>
              </a:defRPr>
            </a:pPr>
            <a:r>
              <a:t>System at a Glance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71600"/>
            <a:ext cx="1083564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DE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47472" tIns="274320" rIns="292608" bIns="182880" rtlCol="0" anchor="ctr"/>
          <a:lstStyle/>
          <a:p>
            <a:pPr>
              <a:spcAft>
                <a:spcPts val="12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lang="en-US" dirty="0"/>
              <a:t>•  Python backend exposes APIs and coordinates requests</a:t>
            </a:r>
          </a:p>
          <a:p>
            <a:pPr>
              <a:spcAft>
                <a:spcPts val="12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lang="en-US" dirty="0"/>
              <a:t>•  Mobile application provides chat, settings, knowledge management, and answer cards</a:t>
            </a:r>
          </a:p>
          <a:p>
            <a:pPr>
              <a:spcAft>
                <a:spcPts val="12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lang="en-US" dirty="0"/>
              <a:t>•  Hybrid RAG grounds company-specific answers in organization documents</a:t>
            </a:r>
          </a:p>
          <a:p>
            <a:pPr>
              <a:spcAft>
                <a:spcPts val="12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lang="en-US" dirty="0"/>
              <a:t>•  Tools retrieve chit, finance, profile, and policy information</a:t>
            </a:r>
          </a:p>
          <a:p>
            <a:pPr>
              <a:spcAft>
                <a:spcPts val="12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lang="en-US" dirty="0"/>
              <a:t>•  Telemetry and feedback support monitoring and continuous improvement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 b="1">
                <a:solidFill>
                  <a:srgbClr val="636F82"/>
                </a:solidFill>
                <a:latin typeface="Aptos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A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900" b="1">
                <a:solidFill>
                  <a:srgbClr val="142242"/>
                </a:solidFill>
                <a:latin typeface="Aptos"/>
              </a:defRPr>
            </a:pPr>
            <a:r>
              <a:t>Python Backend: Request 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71600"/>
            <a:ext cx="1083564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DE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47472" tIns="274320" rIns="292608" bIns="182880" rtlCol="0" anchor="ctr"/>
          <a:lstStyle/>
          <a:p>
            <a:pPr>
              <a:spcAft>
                <a:spcPts val="1800"/>
              </a:spcAft>
              <a:defRPr sz="1800">
                <a:solidFill>
                  <a:srgbClr val="2A3342"/>
                </a:solidFill>
                <a:latin typeface="Aptos"/>
              </a:defRPr>
            </a:pPr>
            <a:r>
              <a:rPr dirty="0"/>
              <a:t>•  </a:t>
            </a:r>
            <a:r>
              <a:rPr b="1" dirty="0"/>
              <a:t>ai/app.py </a:t>
            </a:r>
            <a:r>
              <a:rPr dirty="0"/>
              <a:t>— application entry point; exposes APIs and sends responses</a:t>
            </a:r>
          </a:p>
          <a:p>
            <a:pPr>
              <a:spcAft>
                <a:spcPts val="1800"/>
              </a:spcAft>
              <a:defRPr sz="1800">
                <a:solidFill>
                  <a:srgbClr val="2A3342"/>
                </a:solidFill>
                <a:latin typeface="Aptos"/>
              </a:defRPr>
            </a:pPr>
            <a:r>
              <a:rPr dirty="0"/>
              <a:t>•  </a:t>
            </a:r>
            <a:r>
              <a:rPr b="1" dirty="0"/>
              <a:t>ai/agent.py </a:t>
            </a:r>
            <a:r>
              <a:rPr dirty="0"/>
              <a:t>— central controller; breaks requests into tasks, runs them in parallel, and combines results</a:t>
            </a:r>
          </a:p>
          <a:p>
            <a:pPr>
              <a:spcAft>
                <a:spcPts val="1800"/>
              </a:spcAft>
              <a:defRPr sz="1800">
                <a:solidFill>
                  <a:srgbClr val="2A3342"/>
                </a:solidFill>
                <a:latin typeface="Aptos"/>
              </a:defRPr>
            </a:pPr>
            <a:r>
              <a:rPr dirty="0"/>
              <a:t>•  </a:t>
            </a:r>
            <a:r>
              <a:rPr b="1" dirty="0"/>
              <a:t>ai/context_router.py </a:t>
            </a:r>
            <a:r>
              <a:rPr dirty="0"/>
              <a:t>— quickly identifies greetings, capability questions, follow-ups, and personal vs. general queries without an LLM</a:t>
            </a:r>
          </a:p>
          <a:p>
            <a:pPr>
              <a:spcAft>
                <a:spcPts val="1800"/>
              </a:spcAft>
              <a:defRPr sz="1800">
                <a:solidFill>
                  <a:srgbClr val="2A3342"/>
                </a:solidFill>
                <a:latin typeface="Aptos"/>
              </a:defRPr>
            </a:pPr>
            <a:r>
              <a:rPr dirty="0"/>
              <a:t>•  </a:t>
            </a:r>
            <a:r>
              <a:rPr b="1" dirty="0"/>
              <a:t>ai/chatbot.py </a:t>
            </a:r>
            <a:r>
              <a:rPr dirty="0"/>
              <a:t>— predefined questions, category mapping, intent detection, and Indian Rupee formatting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 b="1">
                <a:solidFill>
                  <a:srgbClr val="636F82"/>
                </a:solidFill>
                <a:latin typeface="Aptos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900" b="1">
                <a:solidFill>
                  <a:srgbClr val="142242"/>
                </a:solidFill>
                <a:latin typeface="Aptos"/>
              </a:defRPr>
            </a:pPr>
            <a:r>
              <a:t>Knowledge Base: Hybrid RAG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71600"/>
            <a:ext cx="1083564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DE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47472" tIns="274320" rIns="292608" bIns="182880" rtlCol="0" anchor="ctr"/>
          <a:lstStyle/>
          <a:p>
            <a:pPr>
              <a:spcAft>
                <a:spcPts val="12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lang="en-US" b="1" dirty="0"/>
              <a:t>ai/knowledge.py</a:t>
            </a:r>
          </a:p>
          <a:p>
            <a:pPr>
              <a:spcAft>
                <a:spcPts val="12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lang="en-US" dirty="0"/>
              <a:t>•  </a:t>
            </a:r>
            <a:r>
              <a:rPr dirty="0"/>
              <a:t>reads organization files and splits them into small chunks</a:t>
            </a:r>
          </a:p>
          <a:p>
            <a:pPr>
              <a:spcAft>
                <a:spcPts val="12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dirty="0"/>
              <a:t>•  BM25 keyword search complements vector similarity search</a:t>
            </a:r>
          </a:p>
          <a:p>
            <a:pPr>
              <a:spcAft>
                <a:spcPts val="12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dirty="0"/>
              <a:t>•  Weighted hybrid scoring ranks candidate results</a:t>
            </a:r>
          </a:p>
          <a:p>
            <a:pPr>
              <a:spcAft>
                <a:spcPts val="12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dirty="0"/>
              <a:t>•  Strict relevance gating prevents unsupported answers; low-relevance queries return a knowledge-base fallback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 b="1">
                <a:solidFill>
                  <a:srgbClr val="636F82"/>
                </a:solidFill>
                <a:latin typeface="Aptos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A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900" b="1">
                <a:solidFill>
                  <a:srgbClr val="142242"/>
                </a:solidFill>
                <a:latin typeface="Aptos"/>
              </a:defRPr>
            </a:pPr>
            <a:r>
              <a:t>Backend Tools &amp; Response Formatting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10784840" cy="4800600"/>
          </a:xfrm>
          <a:prstGeom prst="roundRect">
            <a:avLst/>
          </a:prstGeom>
          <a:solidFill>
            <a:srgbClr val="FFFFFF"/>
          </a:solidFill>
          <a:ln>
            <a:solidFill>
              <a:srgbClr val="DE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01168" bIns="137160" rtlCol="0" anchor="ctr"/>
          <a:lstStyle/>
          <a:p>
            <a:pPr algn="just">
              <a:spcAft>
                <a:spcPts val="14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b="1" dirty="0"/>
              <a:t>ai/tools.py </a:t>
            </a:r>
            <a:endParaRPr lang="en-US" b="1" dirty="0"/>
          </a:p>
          <a:p>
            <a:pPr algn="just">
              <a:spcAft>
                <a:spcPts val="14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lang="en-US" dirty="0"/>
              <a:t>P</a:t>
            </a:r>
            <a:r>
              <a:rPr dirty="0"/>
              <a:t>rovides predefined tools used by the agent</a:t>
            </a:r>
          </a:p>
          <a:p>
            <a:pPr algn="just">
              <a:spcAft>
                <a:spcPts val="14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dirty="0"/>
              <a:t>•  </a:t>
            </a:r>
            <a:r>
              <a:rPr dirty="0" err="1"/>
              <a:t>get_chit_details</a:t>
            </a:r>
            <a:r>
              <a:rPr dirty="0"/>
              <a:t> — installments, cycle numbers, auction dates, and statuses</a:t>
            </a:r>
          </a:p>
          <a:p>
            <a:pPr algn="just">
              <a:spcAft>
                <a:spcPts val="14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dirty="0"/>
              <a:t>•  </a:t>
            </a:r>
            <a:r>
              <a:rPr dirty="0" err="1"/>
              <a:t>get_finance_details</a:t>
            </a:r>
            <a:r>
              <a:rPr dirty="0"/>
              <a:t> — balances, outstanding amounts, overdue dues, and earned dividends</a:t>
            </a:r>
            <a:endParaRPr lang="en-US" dirty="0"/>
          </a:p>
          <a:p>
            <a:pPr algn="just">
              <a:spcAft>
                <a:spcPts val="14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lang="en-US" dirty="0"/>
              <a:t>•  </a:t>
            </a:r>
            <a:r>
              <a:rPr lang="en-US" dirty="0" err="1"/>
              <a:t>get_profile_details</a:t>
            </a:r>
            <a:r>
              <a:rPr lang="en-US" dirty="0"/>
              <a:t> — member details, branch, KYC verification, and support topics</a:t>
            </a:r>
          </a:p>
          <a:p>
            <a:pPr algn="just">
              <a:spcAft>
                <a:spcPts val="14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lang="en-US" dirty="0"/>
              <a:t>•  </a:t>
            </a:r>
            <a:r>
              <a:rPr lang="en-US" dirty="0" err="1"/>
              <a:t>search_knowledge</a:t>
            </a:r>
            <a:r>
              <a:rPr lang="en-US" dirty="0"/>
              <a:t> — general chit fund policies</a:t>
            </a:r>
          </a:p>
          <a:p>
            <a:pPr algn="just">
              <a:spcAft>
                <a:spcPts val="14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lang="en-US" b="1" dirty="0"/>
              <a:t>ai/composer.py </a:t>
            </a:r>
          </a:p>
          <a:p>
            <a:pPr algn="just">
              <a:spcAft>
                <a:spcPts val="14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lang="en-US" dirty="0"/>
              <a:t>Converts raw data into UI-friendly structures so the mobile app can render the right card</a:t>
            </a:r>
          </a:p>
          <a:p>
            <a:pPr algn="just">
              <a:spcAft>
                <a:spcPts val="1400"/>
              </a:spcAft>
              <a:defRPr sz="1600">
                <a:solidFill>
                  <a:srgbClr val="2A3342"/>
                </a:solidFill>
                <a:latin typeface="Aptos"/>
              </a:defRPr>
            </a:pP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 b="1">
                <a:solidFill>
                  <a:srgbClr val="636F82"/>
                </a:solidFill>
                <a:latin typeface="Aptos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900" b="1">
                <a:solidFill>
                  <a:srgbClr val="142242"/>
                </a:solidFill>
                <a:latin typeface="Aptos"/>
              </a:defRPr>
            </a:pPr>
            <a:r>
              <a:rPr dirty="0"/>
              <a:t>LLM Selection, Telemetry &amp; Feedback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71600"/>
            <a:ext cx="1083564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DE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47472" tIns="274320" rIns="292608" bIns="182880" rtlCol="0" anchor="ctr"/>
          <a:lstStyle/>
          <a:p>
            <a:pPr algn="just">
              <a:spcAft>
                <a:spcPts val="12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b="1" dirty="0"/>
              <a:t>ai/llm.py </a:t>
            </a:r>
            <a:endParaRPr lang="en-US" b="1" dirty="0"/>
          </a:p>
          <a:p>
            <a:pPr algn="just">
              <a:spcAft>
                <a:spcPts val="12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lang="en-US" dirty="0"/>
              <a:t>•  </a:t>
            </a:r>
            <a:r>
              <a:rPr dirty="0"/>
              <a:t>can route </a:t>
            </a:r>
            <a:r>
              <a:rPr dirty="0" err="1"/>
              <a:t>llm.generate</a:t>
            </a:r>
            <a:r>
              <a:rPr dirty="0"/>
              <a:t>() to OpenAI, Gemini, </a:t>
            </a:r>
            <a:r>
              <a:rPr dirty="0" err="1"/>
              <a:t>Groq</a:t>
            </a:r>
            <a:r>
              <a:rPr dirty="0"/>
              <a:t>, Mistral, DeepSeek, or </a:t>
            </a:r>
            <a:r>
              <a:rPr dirty="0" err="1"/>
              <a:t>xAI</a:t>
            </a:r>
            <a:endParaRPr dirty="0"/>
          </a:p>
          <a:p>
            <a:pPr>
              <a:spcAft>
                <a:spcPts val="12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dirty="0"/>
              <a:t>•  The AI model can be switched from the settings screen</a:t>
            </a:r>
          </a:p>
          <a:p>
            <a:pPr>
              <a:spcAft>
                <a:spcPts val="12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dirty="0"/>
              <a:t>•  ai/telemetry.py records timestamps, questions, tool used, TTFT, latency, and token counts</a:t>
            </a:r>
          </a:p>
          <a:p>
            <a:pPr>
              <a:spcAft>
                <a:spcPts val="12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dirty="0"/>
              <a:t>•  TTFT means Time To First Token; latency is total time taken</a:t>
            </a:r>
          </a:p>
          <a:p>
            <a:pPr>
              <a:spcAft>
                <a:spcPts val="12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b="1" dirty="0"/>
              <a:t> ai/feedback.py</a:t>
            </a:r>
            <a:endParaRPr lang="en-US" b="1" dirty="0"/>
          </a:p>
          <a:p>
            <a:pPr>
              <a:spcAft>
                <a:spcPts val="12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lang="en-US" dirty="0"/>
              <a:t>•  S</a:t>
            </a:r>
            <a:r>
              <a:rPr dirty="0"/>
              <a:t>aves user feedback and creates support tickets for follow-up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 b="1">
                <a:solidFill>
                  <a:srgbClr val="636F82"/>
                </a:solidFill>
                <a:latin typeface="Aptos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A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900" b="1">
                <a:solidFill>
                  <a:srgbClr val="142242"/>
                </a:solidFill>
                <a:latin typeface="Aptos"/>
              </a:defRPr>
            </a:pPr>
            <a:r>
              <a:t>Mobile Application Components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9759604" cy="4800600"/>
          </a:xfrm>
          <a:prstGeom prst="roundRect">
            <a:avLst/>
          </a:prstGeom>
          <a:solidFill>
            <a:srgbClr val="FFFFFF"/>
          </a:solidFill>
          <a:ln>
            <a:solidFill>
              <a:srgbClr val="DE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01168" bIns="137160" rtlCol="0" anchor="ctr"/>
          <a:lstStyle/>
          <a:p>
            <a:pPr algn="just">
              <a:spcAft>
                <a:spcPts val="14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dirty="0"/>
              <a:t>•</a:t>
            </a:r>
            <a:r>
              <a:rPr b="1" dirty="0"/>
              <a:t>Chatbot.js </a:t>
            </a:r>
            <a:r>
              <a:rPr dirty="0"/>
              <a:t>— main chat screen</a:t>
            </a:r>
          </a:p>
          <a:p>
            <a:pPr algn="just">
              <a:spcAft>
                <a:spcPts val="14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dirty="0"/>
              <a:t>•</a:t>
            </a:r>
            <a:r>
              <a:rPr b="1" dirty="0"/>
              <a:t>ChatbotKnowledge.js </a:t>
            </a:r>
            <a:r>
              <a:rPr dirty="0"/>
              <a:t>— admin-only RAG / knowledge-base management</a:t>
            </a:r>
          </a:p>
          <a:p>
            <a:pPr algn="just">
              <a:spcAft>
                <a:spcPts val="14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dirty="0"/>
              <a:t>•</a:t>
            </a:r>
            <a:r>
              <a:rPr b="1" dirty="0"/>
              <a:t>ChatbotObservability.js </a:t>
            </a:r>
            <a:r>
              <a:rPr dirty="0"/>
              <a:t>— monitoring dashboard for developers and support teams</a:t>
            </a:r>
            <a:endParaRPr lang="en-US" dirty="0"/>
          </a:p>
          <a:p>
            <a:pPr algn="just">
              <a:spcAft>
                <a:spcPts val="14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lang="en-US" dirty="0"/>
              <a:t>• </a:t>
            </a:r>
            <a:r>
              <a:rPr lang="en-US" b="1" dirty="0"/>
              <a:t>ChatbotSettings.js </a:t>
            </a:r>
            <a:r>
              <a:rPr lang="en-US" dirty="0"/>
              <a:t>— AI model switching</a:t>
            </a:r>
          </a:p>
          <a:p>
            <a:pPr algn="just">
              <a:spcAft>
                <a:spcPts val="14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lang="en-US" dirty="0"/>
              <a:t>•  </a:t>
            </a:r>
            <a:r>
              <a:rPr lang="en-US" b="1" dirty="0"/>
              <a:t>ChatbotService.js</a:t>
            </a:r>
            <a:r>
              <a:rPr lang="en-US" dirty="0"/>
              <a:t> — communication layer between mobile app and Flask backend</a:t>
            </a:r>
          </a:p>
          <a:p>
            <a:pPr algn="just">
              <a:spcAft>
                <a:spcPts val="14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lang="en-US" dirty="0"/>
              <a:t>•  </a:t>
            </a:r>
            <a:r>
              <a:rPr lang="en-US" b="1" dirty="0"/>
              <a:t>ChatbotAnswerCard.js</a:t>
            </a:r>
            <a:r>
              <a:rPr lang="en-US" dirty="0"/>
              <a:t> — displays structured visual cards instead of plain text</a:t>
            </a:r>
          </a:p>
          <a:p>
            <a:pPr algn="just">
              <a:spcAft>
                <a:spcPts val="1400"/>
              </a:spcAft>
              <a:defRPr sz="1600">
                <a:solidFill>
                  <a:srgbClr val="2A3342"/>
                </a:solidFill>
                <a:latin typeface="Aptos"/>
              </a:defRPr>
            </a:pP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 b="1">
                <a:solidFill>
                  <a:srgbClr val="636F82"/>
                </a:solidFill>
                <a:latin typeface="Aptos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900" b="1">
                <a:solidFill>
                  <a:srgbClr val="142242"/>
                </a:solidFill>
                <a:latin typeface="Aptos"/>
              </a:defRPr>
            </a:pPr>
            <a:r>
              <a:t>Core Chit Fund Platform Features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59" y="1325880"/>
            <a:ext cx="10424623" cy="4800600"/>
          </a:xfrm>
          <a:prstGeom prst="roundRect">
            <a:avLst/>
          </a:prstGeom>
          <a:solidFill>
            <a:srgbClr val="FFFFFF"/>
          </a:solidFill>
          <a:ln>
            <a:solidFill>
              <a:srgbClr val="DE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01168" bIns="137160" rtlCol="0" anchor="ctr"/>
          <a:lstStyle/>
          <a:p>
            <a:pPr algn="just">
              <a:spcAft>
                <a:spcPts val="14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dirty="0"/>
              <a:t>•  </a:t>
            </a:r>
            <a:r>
              <a:rPr b="1" dirty="0"/>
              <a:t>Auction.js </a:t>
            </a:r>
            <a:r>
              <a:rPr dirty="0"/>
              <a:t>— online auctions and live bidding</a:t>
            </a:r>
          </a:p>
          <a:p>
            <a:pPr algn="just">
              <a:spcAft>
                <a:spcPts val="14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dirty="0"/>
              <a:t>•  </a:t>
            </a:r>
            <a:r>
              <a:rPr b="1" dirty="0"/>
              <a:t>ChitESign.js </a:t>
            </a:r>
            <a:r>
              <a:rPr dirty="0"/>
              <a:t>— digital chit agreements and e-signatures</a:t>
            </a:r>
          </a:p>
          <a:p>
            <a:pPr algn="just">
              <a:spcAft>
                <a:spcPts val="14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dirty="0"/>
              <a:t>•  </a:t>
            </a:r>
            <a:r>
              <a:rPr b="1" dirty="0"/>
              <a:t>AccountCopyDetailsView.js </a:t>
            </a:r>
            <a:r>
              <a:rPr dirty="0"/>
              <a:t>— member passbook / ledger history</a:t>
            </a:r>
          </a:p>
          <a:p>
            <a:pPr algn="just">
              <a:spcAft>
                <a:spcPts val="14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u="sng" dirty="0"/>
              <a:t>Chit fund mechanics: </a:t>
            </a:r>
            <a:r>
              <a:rPr lang="en-US" dirty="0"/>
              <a:t>  </a:t>
            </a:r>
          </a:p>
          <a:p>
            <a:pPr algn="just">
              <a:spcAft>
                <a:spcPts val="14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lang="en-US" sz="1600" dirty="0">
                <a:solidFill>
                  <a:srgbClr val="2A3342"/>
                </a:solidFill>
                <a:latin typeface="Aptos"/>
              </a:rPr>
              <a:t>•  </a:t>
            </a:r>
            <a:r>
              <a:rPr lang="en-US" dirty="0"/>
              <a:t>M</a:t>
            </a:r>
            <a:r>
              <a:rPr dirty="0"/>
              <a:t>embers contribute fixed monthly installments into a shared pool</a:t>
            </a:r>
            <a:endParaRPr lang="en-US" dirty="0"/>
          </a:p>
          <a:p>
            <a:pPr algn="just">
              <a:spcAft>
                <a:spcPts val="14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lang="en-US" dirty="0"/>
              <a:t>•  Reverse auction / bidding: Members bid discounts to claim the pooled prize money</a:t>
            </a:r>
          </a:p>
          <a:p>
            <a:pPr algn="just">
              <a:spcAft>
                <a:spcPts val="14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lang="en-US" dirty="0"/>
              <a:t>•  Dividends: Bid discount less the foreman’s 5% commission is distributed to reduce subsequent installments</a:t>
            </a:r>
          </a:p>
          <a:p>
            <a:pPr algn="just">
              <a:spcAft>
                <a:spcPts val="14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lang="en-US" dirty="0"/>
              <a:t>•  The source document identifies the Chit Funds Act, 1982 as the legal framework</a:t>
            </a:r>
          </a:p>
          <a:p>
            <a:pPr algn="just">
              <a:spcAft>
                <a:spcPts val="1400"/>
              </a:spcAft>
              <a:defRPr sz="1600">
                <a:solidFill>
                  <a:srgbClr val="2A3342"/>
                </a:solidFill>
                <a:latin typeface="Aptos"/>
              </a:defRPr>
            </a:pP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 b="1">
                <a:solidFill>
                  <a:srgbClr val="636F82"/>
                </a:solidFill>
                <a:latin typeface="Aptos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A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900" b="1">
                <a:solidFill>
                  <a:srgbClr val="142242"/>
                </a:solidFill>
                <a:latin typeface="Aptos"/>
              </a:defRPr>
            </a:pPr>
            <a:r>
              <a:t>AI Concepts: Agentic Tool Calling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71600"/>
            <a:ext cx="1083564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DE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47472" tIns="274320" rIns="292608" bIns="182880" rtlCol="0" anchor="ctr"/>
          <a:lstStyle/>
          <a:p>
            <a:pPr algn="just">
              <a:spcAft>
                <a:spcPts val="1800"/>
              </a:spcAft>
              <a:defRPr sz="1800">
                <a:solidFill>
                  <a:srgbClr val="2A3342"/>
                </a:solidFill>
                <a:latin typeface="Aptos"/>
              </a:defRPr>
            </a:pPr>
            <a:r>
              <a:rPr dirty="0"/>
              <a:t>•  The agent selects an appropriate tool based on the user prompt</a:t>
            </a:r>
          </a:p>
          <a:p>
            <a:pPr algn="just">
              <a:spcAft>
                <a:spcPts val="1800"/>
              </a:spcAft>
              <a:defRPr sz="1800">
                <a:solidFill>
                  <a:srgbClr val="2A3342"/>
                </a:solidFill>
                <a:latin typeface="Aptos"/>
              </a:defRPr>
            </a:pPr>
            <a:r>
              <a:rPr dirty="0"/>
              <a:t>•  Tools return structured JSON from the database or knowledge base</a:t>
            </a:r>
          </a:p>
          <a:p>
            <a:pPr algn="just">
              <a:spcAft>
                <a:spcPts val="1800"/>
              </a:spcAft>
              <a:defRPr sz="1800">
                <a:solidFill>
                  <a:srgbClr val="2A3342"/>
                </a:solidFill>
                <a:latin typeface="Aptos"/>
              </a:defRPr>
            </a:pPr>
            <a:r>
              <a:rPr dirty="0"/>
              <a:t>•  The agent synthesizes a grounded response from the retrieved information</a:t>
            </a:r>
          </a:p>
          <a:p>
            <a:pPr algn="just">
              <a:spcAft>
                <a:spcPts val="1800"/>
              </a:spcAft>
              <a:defRPr sz="1800">
                <a:solidFill>
                  <a:srgbClr val="2A3342"/>
                </a:solidFill>
                <a:latin typeface="Aptos"/>
              </a:defRPr>
            </a:pPr>
            <a:r>
              <a:rPr dirty="0"/>
              <a:t>•  This approach goes beyond answering from pre-trained memory alone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 b="1">
                <a:solidFill>
                  <a:srgbClr val="636F82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900" b="1">
                <a:solidFill>
                  <a:srgbClr val="142242"/>
                </a:solidFill>
                <a:latin typeface="Aptos"/>
              </a:defRPr>
            </a:pPr>
            <a:r>
              <a:t>RAG, Relevance Gating &amp; SSE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5349240" cy="4800600"/>
          </a:xfrm>
          <a:prstGeom prst="roundRect">
            <a:avLst/>
          </a:prstGeom>
          <a:solidFill>
            <a:srgbClr val="FFFFFF"/>
          </a:solidFill>
          <a:ln>
            <a:solidFill>
              <a:srgbClr val="DE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01168" bIns="137160" rtlCol="0" anchor="ctr"/>
          <a:lstStyle/>
          <a:p>
            <a:pPr algn="just">
              <a:spcAft>
                <a:spcPts val="14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dirty="0"/>
              <a:t>•  Retrieval-Augmented Generation (RAG) supports company-specific policies such as enrollment fees, legal rules, and surety requirements</a:t>
            </a:r>
          </a:p>
          <a:p>
            <a:pPr algn="just">
              <a:spcAft>
                <a:spcPts val="14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dirty="0"/>
              <a:t>•  Vector search matches query meaning against document embeddings</a:t>
            </a:r>
          </a:p>
          <a:p>
            <a:pPr algn="just">
              <a:spcAft>
                <a:spcPts val="14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dirty="0"/>
              <a:t>•  BM25 searches for exact keywords; hybrid scoring combines the signals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25880"/>
            <a:ext cx="5349240" cy="4800600"/>
          </a:xfrm>
          <a:prstGeom prst="roundRect">
            <a:avLst/>
          </a:prstGeom>
          <a:solidFill>
            <a:srgbClr val="FFFFFF"/>
          </a:solidFill>
          <a:ln>
            <a:solidFill>
              <a:srgbClr val="DE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01168" bIns="137160" rtlCol="0" anchor="ctr"/>
          <a:lstStyle/>
          <a:p>
            <a:pPr algn="just">
              <a:spcAft>
                <a:spcPts val="14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dirty="0"/>
              <a:t>•  Configured thresholds in the source: MIN_VECTOR_SIMILARITY = 0.62 and MIN_KEYWORD_SCORE = 1.2</a:t>
            </a:r>
          </a:p>
          <a:p>
            <a:pPr algn="just">
              <a:spcAft>
                <a:spcPts val="14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dirty="0"/>
              <a:t>•  Irrelevant questions are flagged rather than answered with unrelated chunks</a:t>
            </a:r>
          </a:p>
          <a:p>
            <a:pPr algn="just">
              <a:spcAft>
                <a:spcPts val="14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dirty="0"/>
              <a:t>•  Server-Sent Events (SSE) gradually streams the response instead of sending it all at 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 b="1">
                <a:solidFill>
                  <a:srgbClr val="636F82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A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900" b="1">
                <a:solidFill>
                  <a:srgbClr val="142242"/>
                </a:solidFill>
                <a:latin typeface="Aptos"/>
              </a:defRPr>
            </a:pPr>
            <a:r>
              <a:t>Privacy &amp; Software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71600"/>
            <a:ext cx="1083564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DE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47472" tIns="274320" rIns="292608" bIns="182880" rtlCol="0" anchor="ctr"/>
          <a:lstStyle/>
          <a:p>
            <a:pPr algn="just">
              <a:spcAft>
                <a:spcPts val="12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dirty="0"/>
              <a:t>•  Separation of concerns and scoped tool access</a:t>
            </a:r>
          </a:p>
          <a:p>
            <a:pPr algn="just">
              <a:spcAft>
                <a:spcPts val="12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dirty="0"/>
              <a:t>•  A finance-category question is restricted to the finance tool and cannot access private profile details</a:t>
            </a:r>
          </a:p>
          <a:p>
            <a:pPr algn="just">
              <a:spcAft>
                <a:spcPts val="12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dirty="0"/>
              <a:t>•  The source describes a dual-engine design: local/offline operation and dynamic AI-model switching</a:t>
            </a:r>
          </a:p>
          <a:p>
            <a:pPr algn="just">
              <a:spcAft>
                <a:spcPts val="12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dirty="0"/>
              <a:t>•  Rich polymorphic UI cards pair text with dynamic native UI components</a:t>
            </a:r>
          </a:p>
          <a:p>
            <a:pPr algn="just">
              <a:spcAft>
                <a:spcPts val="12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dirty="0"/>
              <a:t>•  Admins can upload files from mobile into the app’s knowledge 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 b="1">
                <a:solidFill>
                  <a:srgbClr val="636F82"/>
                </a:solidFill>
                <a:latin typeface="Apto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6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900" b="1">
                <a:solidFill>
                  <a:srgbClr val="142242"/>
                </a:solidFill>
                <a:latin typeface="Aptos"/>
              </a:defRPr>
            </a:pPr>
            <a:r>
              <a:t>MLOps, Observability &amp; Feedback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71600"/>
            <a:ext cx="1083564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DE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47472" tIns="274320" rIns="292608" bIns="182880" rtlCol="0" anchor="ctr"/>
          <a:lstStyle/>
          <a:p>
            <a:pPr algn="just">
              <a:spcAft>
                <a:spcPts val="12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dirty="0"/>
              <a:t>•  Turn tracing measures TTFT, total latency, prompt tokens, completion tokens, and tool execution times</a:t>
            </a:r>
          </a:p>
          <a:p>
            <a:pPr algn="just">
              <a:spcAft>
                <a:spcPts val="12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dirty="0"/>
              <a:t>•  Append-only JSONL logging records system performance</a:t>
            </a:r>
          </a:p>
          <a:p>
            <a:pPr algn="just">
              <a:spcAft>
                <a:spcPts val="12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dirty="0"/>
              <a:t>•  Live telemetry supports system behavior monitoring</a:t>
            </a:r>
          </a:p>
          <a:p>
            <a:pPr algn="just">
              <a:spcAft>
                <a:spcPts val="12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dirty="0"/>
              <a:t>•  Thumbs-up / thumbs-down ratings capture human feedback</a:t>
            </a:r>
          </a:p>
          <a:p>
            <a:pPr algn="just">
              <a:spcAft>
                <a:spcPts val="1200"/>
              </a:spcAft>
              <a:defRPr sz="1600">
                <a:solidFill>
                  <a:srgbClr val="2A3342"/>
                </a:solidFill>
                <a:latin typeface="Aptos"/>
              </a:defRPr>
            </a:pPr>
            <a:r>
              <a:rPr dirty="0"/>
              <a:t>•  Feedback is saved and support tickets are created for the support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 b="1">
                <a:solidFill>
                  <a:srgbClr val="636F82"/>
                </a:solidFill>
                <a:latin typeface="Aptos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A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900" b="1">
                <a:solidFill>
                  <a:srgbClr val="142242"/>
                </a:solidFill>
                <a:latin typeface="Aptos"/>
              </a:defRPr>
            </a:pPr>
            <a:r>
              <a:t>Specifications &amp; Design 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71600"/>
            <a:ext cx="1083564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DE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47472" tIns="274320" rIns="292608" bIns="182880" rtlCol="0" anchor="ctr"/>
          <a:lstStyle/>
          <a:p>
            <a:pPr algn="just">
              <a:spcAft>
                <a:spcPts val="1800"/>
              </a:spcAft>
              <a:defRPr sz="1800">
                <a:solidFill>
                  <a:srgbClr val="2A3342"/>
                </a:solidFill>
                <a:latin typeface="Aptos"/>
              </a:defRPr>
            </a:pPr>
            <a:r>
              <a:rPr dirty="0"/>
              <a:t>•  Chatbot_Requirements.txt defines functional requirements and business logic</a:t>
            </a:r>
          </a:p>
          <a:p>
            <a:pPr algn="just">
              <a:spcAft>
                <a:spcPts val="1800"/>
              </a:spcAft>
              <a:defRPr sz="1800">
                <a:solidFill>
                  <a:srgbClr val="2A3342"/>
                </a:solidFill>
                <a:latin typeface="Aptos"/>
              </a:defRPr>
            </a:pPr>
            <a:r>
              <a:rPr dirty="0"/>
              <a:t>•  DESIGN.md contains design information such as colors, fonts, and UI standards</a:t>
            </a:r>
          </a:p>
          <a:p>
            <a:pPr algn="just">
              <a:spcAft>
                <a:spcPts val="1800"/>
              </a:spcAft>
              <a:defRPr sz="1800">
                <a:solidFill>
                  <a:srgbClr val="2A3342"/>
                </a:solidFill>
                <a:latin typeface="Aptos"/>
              </a:defRPr>
            </a:pPr>
            <a:r>
              <a:rPr dirty="0"/>
              <a:t>•  HTML mockups screen_1 through screen_9 demonstrate prototype screens and system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 b="1">
                <a:solidFill>
                  <a:srgbClr val="636F82"/>
                </a:solidFill>
                <a:latin typeface="Aptos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2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103120"/>
            <a:ext cx="640080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Aptos"/>
              </a:defRPr>
            </a:pPr>
            <a: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 b="1">
                <a:solidFill>
                  <a:srgbClr val="CED8E7"/>
                </a:solidFill>
                <a:latin typeface="Aptos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983</Words>
  <Application>Microsoft Office PowerPoint</Application>
  <PresentationFormat>Widescreen</PresentationFormat>
  <Paragraphs>112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Kanniga Devi</cp:lastModifiedBy>
  <cp:revision>2</cp:revision>
  <dcterms:created xsi:type="dcterms:W3CDTF">2013-01-27T09:14:16Z</dcterms:created>
  <dcterms:modified xsi:type="dcterms:W3CDTF">2026-10-22T12:15:56Z</dcterms:modified>
  <cp:category/>
</cp:coreProperties>
</file>