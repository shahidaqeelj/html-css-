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685800"/>
            <a:ext cx="2377440" cy="2377440"/>
          </a:xfrm>
          <a:prstGeom prst="ellipse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240280"/>
            <a:ext cx="1554480" cy="1554480"/>
          </a:xfrm>
          <a:prstGeom prst="ellipse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3200400"/>
            <a:ext cx="1005840" cy="1005840"/>
          </a:xfrm>
          <a:prstGeom prst="ellipse">
            <a:avLst/>
          </a:prstGeom>
          <a:solidFill>
            <a:srgbClr val="F1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858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6766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0">
                <a:solidFill>
                  <a:srgbClr val="BED3F2"/>
                </a:solidFill>
                <a:latin typeface="Aptos"/>
              </a:defRPr>
            </a:pPr>
            <a:r>
              <a:t>System Architecture &amp;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63240"/>
            <a:ext cx="66751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Python backend  •  Mobile application  •  Hybrid RAG  •  Chit fund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97880"/>
            <a:ext cx="8046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BED3F2"/>
                </a:solidFill>
                <a:latin typeface="Aptos"/>
              </a:defRPr>
            </a:pPr>
            <a:r>
              <a:t>Presentation created from the supplied Word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CED8E7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CED8E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High-Level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0020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F69BE"/>
                </a:solidFill>
                <a:latin typeface="Aptos"/>
              </a:defRPr>
            </a:pPr>
            <a:r>
              <a:t>1  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01168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Chat screen, settings, knowledge admin, answer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0020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F69BE"/>
                </a:solidFill>
                <a:latin typeface="Aptos"/>
              </a:defRPr>
            </a:pPr>
            <a:r>
              <a:t>2  Flask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01168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Receives requests and returns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60020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F69BE"/>
                </a:solidFill>
                <a:latin typeface="Aptos"/>
              </a:defRPr>
            </a:pPr>
            <a:r>
              <a:t>3  Agent +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01168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Routes intent and coordinates tool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74904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DA1A0"/>
                </a:solidFill>
                <a:latin typeface="Aptos"/>
              </a:defRPr>
            </a:pPr>
            <a:r>
              <a:t>4  Tools + Hybrid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16052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Fetches structured data or relevant policy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74904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DA1A0"/>
                </a:solidFill>
                <a:latin typeface="Aptos"/>
              </a:defRPr>
            </a:pPr>
            <a:r>
              <a:t>5  LLM + Composer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16052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Builds a grounded answer and UI-friendly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749040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DA1A0"/>
                </a:solidFill>
                <a:latin typeface="Aptos"/>
              </a:defRPr>
            </a:pPr>
            <a:r>
              <a:t>6  Telemetry +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160520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A3342"/>
                </a:solidFill>
                <a:latin typeface="Aptos"/>
              </a:defRPr>
            </a:pPr>
            <a:r>
              <a:t>Logs performance and routes feedback to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System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Python backend exposes APIs and coordinates requests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Mobile application provides chat, settings, knowledge management, and answer cards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Hybrid RAG grounds company-specific answers in organization documents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Tools retrieve chit, finance, profile, and policy information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Telemetry and feedback support monitoring and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Python Backend: Request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ai/app.py — application entry point; exposes APIs and sends responses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ai/agent.py — central controller; breaks requests into tasks, runs them in parallel, and combines results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ai/context_router.py — quickly identifies greetings, capability questions, follow-ups, and personal vs. general queries without an LLM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ai/chatbot.py — predefined questions, category mapping, intent detection, and Indian Rupee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Knowledge Base: Hybrid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ai/knowledge.py reads organization files and splits them into small chunks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Local embeddings: fastembed with BAAI/bge-small-en-v1.5 on ONNX CPU; no external API required for embeddings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BM25 keyword search complements vector similarity search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Weighted hybrid scoring ranks candidate results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Strict relevance gating prevents unsupported answers; low-relevance queries return a knowledge-base fallback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Backend Tools &amp; Response Formatting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ai/tools.py provides predefined tools used by the agent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get_chit_details — installments, cycle numbers, auction dates, and statuses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get_finance_details — balances, outstanding amounts, overdue dues, and earned dividends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get_profile_details — member details, branch, KYC verification, and support topics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search_knowledge — general chit fund policies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ai/composer.py converts raw data into UI-friendly structures so the mobile app can render the right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LLM Selection, Telemetry &amp;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ai/llm.py can route llm.generate() to OpenAI, Gemini, Groq, Mistral, DeepSeek, or xAI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The AI model can be switched from the settings screen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ai/telemetry.py records timestamps, questions, tool used, TTFT, latency, and token counts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TTFT means Time To First Token; latency is total time taken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ai/feedback.py saves user feedback and creates support tickets for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Mobile Application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Chatbot.js — main chat screen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ChatbotKnowledge.js — admin-only RAG / knowledge-base management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ChatbotObservability.js — monitoring dashboard for developers and support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ChatbotSettings.js — AI model switching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ChatbotService.js — communication layer between mobile app and Flask backend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ChatbotAnswerCard.js — displays structured visual cards instead of plain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Core Chit Fund Platform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Auction.js — online auctions and live bidding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ChitESign.js — digital chit agreements and e-signatures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AccountCopyDetailsView.js — member passbook / ledger history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Chit fund mechanics: members contribute fixed monthly installments into a shared pool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Reverse auction / bidding: members bid discounts to claim the pooled prize money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Dividends: bid discount less the foreman’s 5% commission is distributed to reduce subsequent installments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The source document identifies the Chit Funds Act, 1982 as the legal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AI Concepts: Agentic Tool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The agent selects an appropriate tool based on the user prompt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Tools return structured JSON from the database or knowledge base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The agent synthesizes a grounded response from the retrieved information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This approach goes beyond answering from pre-trained memory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RAG, Relevance Gating &amp;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Retrieval-Augmented Generation (RAG) supports company-specific policies such as enrollment fees, legal rules, and surety requirements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Vector search matches query meaning against document embeddings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BM25 searches for exact keywords; hybrid scoring combines the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49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1168" tIns="201168" bIns="137160"/>
          <a:lstStyle/>
          <a:p>
            <a:pPr algn="ctr"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Configured thresholds in the source: MIN_VECTOR_SIMILARITY = 0.62 and MIN_KEYWORD_SCORE = 1.2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Irrelevant questions are flagged rather than answered with unrelated chunks</a:t>
            </a:r>
          </a:p>
          <a:p>
            <a:pPr>
              <a:spcAft>
                <a:spcPts val="14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Server-Sent Events (SSE) gradually streams the response instead of sending it all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Privacy &amp; Software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Separation of concerns and scoped tool access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 finance-category question is restricted to the finance tool and cannot access private profile details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The source describes a dual-engine design: local/offline operation and dynamic AI-model switching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Rich polymorphic UI cards pair text with dynamic native UI components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Admins can upload files from mobile into the app’s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MLOps, Observability &amp;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Turn tracing measures TTFT, total latency, prompt tokens, completion tokens, and tool execution times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Append-only JSONL logging records system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Live telemetry supports system behavior monitoring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Thumbs-up / thumbs-down ratings capture human feedback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Feedback is saved and support tickets are created for the support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A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Specifications &amp; Design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Chatbot_Requirements.txt defines functional requirements and business logic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DESIGN.md contains design information such as colors, fonts, and UI standards</a:t>
            </a:r>
          </a:p>
          <a:p>
            <a:pPr>
              <a:spcAft>
                <a:spcPts val="1800"/>
              </a:spcAft>
              <a:defRPr sz="1800">
                <a:solidFill>
                  <a:srgbClr val="2A3342"/>
                </a:solidFill>
                <a:latin typeface="Aptos"/>
              </a:defRPr>
            </a:pPr>
            <a:r>
              <a:t>•  HTML mockups screen_1 through screen_9 demonstrate prototype screens and system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224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74320" bIns="182880"/>
          <a:lstStyle/>
          <a:p>
            <a:pPr algn="ctr"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Modular Python backend with scoped tools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Hybrid RAG combines vector and keyword retrieval to ground answers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Mobile app supports chat, model settings, knowledge management, and structured answer cards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Telemetry and human feedback enable monitoring and support workflows</a:t>
            </a:r>
          </a:p>
          <a:p>
            <a:pPr>
              <a:spcAft>
                <a:spcPts val="1200"/>
              </a:spcAft>
              <a:defRPr sz="1600">
                <a:solidFill>
                  <a:srgbClr val="2A3342"/>
                </a:solidFill>
                <a:latin typeface="Aptos"/>
              </a:defRPr>
            </a:pPr>
            <a:r>
              <a:t>•  Chit fund features include auctions, e-signatures, passbook history, installments, and dividends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36F82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636F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6400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0">
                <a:solidFill>
                  <a:srgbClr val="BED3F2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5897880"/>
            <a:ext cx="8046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BED3F2"/>
                </a:solidFill>
                <a:latin typeface="Aptos"/>
              </a:defRPr>
            </a:pPr>
            <a:r>
              <a:t>AI Chatbot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CED8E7"/>
                </a:solidFill>
                <a:latin typeface="Aptos"/>
              </a:defRPr>
            </a:pPr>
            <a:r>
              <a:t>AI CHATBOT  •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CED8E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